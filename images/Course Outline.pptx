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8FB92-01C8-D383-C7A9-B39D5BAE7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AE2E01-0BD5-C34C-090C-7901EAD60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2E209-17D9-1458-DF57-1E8AEB960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CE9-BF5D-4372-B203-40610E8A15C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8D2D2-6013-AD6C-9628-9A08BA32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52278-A796-E0DB-E1CB-DB138F0BD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ABDC3-9C57-4BC8-9DA1-6C497A98D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6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AE0C-5979-19A2-2203-76FEE4C4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D2D21-9DF1-161E-F79A-21B73B6CD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344BF-862E-FFEE-B771-0AEFE91C0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CE9-BF5D-4372-B203-40610E8A15C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D55DD-0CE8-D24C-E439-D0BE2C14C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4DB93-399B-2A81-4448-096C38070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ABDC3-9C57-4BC8-9DA1-6C497A98D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8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8D3B-11BF-B63D-C77A-949F211C6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41086-F254-DBDB-3F35-4EFE452D0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E76EF-AF82-B855-EA9E-37EF2B9AE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CE9-BF5D-4372-B203-40610E8A15C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D6081-7954-AD6F-927B-191DEE86D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4951C-A386-5A87-23A5-F3DA80AD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ABDC3-9C57-4BC8-9DA1-6C497A98D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36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1EC4-CA85-4B7D-DDD0-21FBA164C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0BD6F-DC3A-3E43-0225-4AA9317A5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46B20-71D9-5A0A-ABA8-3CD7B14A1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75F28-D369-868F-BC02-E842BA1A0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CE9-BF5D-4372-B203-40610E8A15C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6DA4E-9F7E-4F7D-5931-3F8C82CA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10AD1-3B36-4908-0102-F4404D1F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ABDC3-9C57-4BC8-9DA1-6C497A98D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DE6C1-BEB1-5F26-1051-5C8233625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49100-C50E-36B8-016F-041287B9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65180-7A20-DB22-6099-330F9725C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70E0F-FAC9-A1F0-A474-33F2BE712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526C2C-5DE8-79E7-0B96-74F18C825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F0C089-0F68-C6CE-F54F-E2397DA33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CE9-BF5D-4372-B203-40610E8A15C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ED49F-1AD1-BC3F-DF35-061731E0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00EBB-7BB5-A0FF-495B-D61F8C68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ABDC3-9C57-4BC8-9DA1-6C497A98D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1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0C24-6676-14FF-0C0F-22B0C5487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68F646-18AF-A534-1187-4694AB99A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CE9-BF5D-4372-B203-40610E8A15C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92227-74A1-93D9-655D-72975D35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6FE93-2281-CFAE-9BDB-72EA9F31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ABDC3-9C57-4BC8-9DA1-6C497A98D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4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B81003-3529-A94E-B4D7-E4CA49985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CE9-BF5D-4372-B203-40610E8A15C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F778F-DEF2-0D96-B821-BFB55C7A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B60B9-A467-2C86-4A2E-F3E028B7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ABDC3-9C57-4BC8-9DA1-6C497A98D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0AA72-75F4-40AD-0C18-190AD2864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B9A7C-357A-CAB8-8EDD-CA4282412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450DE-09FD-D0A8-8F24-15BBB6D3B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1FF9B-AEE3-5C71-37DF-CB3B825B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CE9-BF5D-4372-B203-40610E8A15C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C4F50-50C8-AAF7-7B1E-58424C80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65098-E0E0-BD28-D728-13669871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ABDC3-9C57-4BC8-9DA1-6C497A98D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05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8E46-4CAC-FDA2-C1DB-AC149ADF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A8E0C-FFD5-83F2-0C03-F4CDFC1486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307B4-54F8-480D-3F16-66A7C0DC9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D242D-BA39-3845-4144-8FCD0E65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CE9-BF5D-4372-B203-40610E8A15C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2CD29-72E9-3BB3-645D-75766AEA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CD168-8EB2-41D3-B011-7D3FA16FD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ABDC3-9C57-4BC8-9DA1-6C497A98D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79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FCAA3-B9BA-B6DC-39B3-B540AB04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140E0-7E43-FB48-A688-5FAA2F511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3EFD2-D7AE-4A25-4903-45D8A530A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CE9-BF5D-4372-B203-40610E8A15C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8E591-B47F-EF1F-B1C6-9B314B4F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AB08A-C033-BC5E-442B-76234EB5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ABDC3-9C57-4BC8-9DA1-6C497A98D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65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84E84-16DE-AA81-CBD3-0753A62C4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20AEE-2CA6-FAF2-E6B1-5EF2DEAD1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4625D-57CD-86AD-A8DB-893E2A4A0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12CE9-BF5D-4372-B203-40610E8A15C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5A411-C80C-7F20-E057-42176D798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CAEE7-2DAC-061A-C5CF-ECA3B6A1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ABDC3-9C57-4BC8-9DA1-6C497A98D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3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9D145-3FE1-A37D-D767-5C6874CA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D32D8-4B9C-69FF-21D5-CBF534BE3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3B99C-7F06-F83B-079E-5DB43A26A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12CE9-BF5D-4372-B203-40610E8A15C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13A57-1924-2525-7E64-1F483A008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EC022-B56D-2E10-3DC4-E64104DF9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ABDC3-9C57-4BC8-9DA1-6C497A98D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3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64868B-30F2-CA68-501C-599FCC2CBD0F}"/>
              </a:ext>
            </a:extLst>
          </p:cNvPr>
          <p:cNvSpPr/>
          <p:nvPr/>
        </p:nvSpPr>
        <p:spPr>
          <a:xfrm>
            <a:off x="1089890" y="240146"/>
            <a:ext cx="1570182" cy="674254"/>
          </a:xfrm>
          <a:prstGeom prst="roundRec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Major topics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D20D40-B20B-DC53-1FBC-A596536FE2AE}"/>
              </a:ext>
            </a:extLst>
          </p:cNvPr>
          <p:cNvSpPr/>
          <p:nvPr/>
        </p:nvSpPr>
        <p:spPr>
          <a:xfrm>
            <a:off x="1062183" y="4741718"/>
            <a:ext cx="1570182" cy="674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Distributions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F3621A-F021-2AC2-1C04-2485999B8EA9}"/>
              </a:ext>
            </a:extLst>
          </p:cNvPr>
          <p:cNvSpPr/>
          <p:nvPr/>
        </p:nvSpPr>
        <p:spPr>
          <a:xfrm>
            <a:off x="1039090" y="2953327"/>
            <a:ext cx="1570182" cy="674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Hypothesis tests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40E55A-EC06-6E19-DE5A-94BFD7B7798B}"/>
              </a:ext>
            </a:extLst>
          </p:cNvPr>
          <p:cNvSpPr/>
          <p:nvPr/>
        </p:nvSpPr>
        <p:spPr>
          <a:xfrm>
            <a:off x="1039090" y="3840018"/>
            <a:ext cx="1570182" cy="674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Linear model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4F8E5B-F6B2-872C-2CEE-8AB96F407DA8}"/>
              </a:ext>
            </a:extLst>
          </p:cNvPr>
          <p:cNvSpPr/>
          <p:nvPr/>
        </p:nvSpPr>
        <p:spPr>
          <a:xfrm>
            <a:off x="1039090" y="5586846"/>
            <a:ext cx="1570182" cy="674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Generalised</a:t>
            </a:r>
            <a:r>
              <a:rPr lang="en-US" dirty="0"/>
              <a:t> linear model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CEF824-0961-33A1-C0F4-3C607EC73B8F}"/>
              </a:ext>
            </a:extLst>
          </p:cNvPr>
          <p:cNvSpPr/>
          <p:nvPr/>
        </p:nvSpPr>
        <p:spPr>
          <a:xfrm>
            <a:off x="1043711" y="2100694"/>
            <a:ext cx="1570182" cy="674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Measuring variation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E59D3C-4BF5-165E-A246-2D15BCE71272}"/>
              </a:ext>
            </a:extLst>
          </p:cNvPr>
          <p:cNvSpPr/>
          <p:nvPr/>
        </p:nvSpPr>
        <p:spPr>
          <a:xfrm>
            <a:off x="4230255" y="1246909"/>
            <a:ext cx="2068946" cy="154016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  <a:p>
            <a:pPr algn="ctr"/>
            <a:r>
              <a:rPr lang="en-US" dirty="0"/>
              <a:t>Excel, RStudio, Projects, Basic data summaries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D9AFE1C-0A7D-D400-9728-10A3BE8B2D2E}"/>
              </a:ext>
            </a:extLst>
          </p:cNvPr>
          <p:cNvSpPr/>
          <p:nvPr/>
        </p:nvSpPr>
        <p:spPr>
          <a:xfrm>
            <a:off x="3195782" y="2994891"/>
            <a:ext cx="2068946" cy="154016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dirty="0"/>
              <a:t>Basic plotting methods to </a:t>
            </a:r>
            <a:r>
              <a:rPr lang="en-US" dirty="0" err="1"/>
              <a:t>summarise</a:t>
            </a:r>
            <a:r>
              <a:rPr lang="en-US" dirty="0"/>
              <a:t>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C7FC23C-2557-AF4A-34ED-CE3D9719581B}"/>
              </a:ext>
            </a:extLst>
          </p:cNvPr>
          <p:cNvSpPr/>
          <p:nvPr/>
        </p:nvSpPr>
        <p:spPr>
          <a:xfrm>
            <a:off x="3195782" y="4742873"/>
            <a:ext cx="2068946" cy="154016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/>
              <a:t>Linear models and analysis of variance (ANOVA)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3A99557-C960-8E71-E1A3-363459142C8D}"/>
              </a:ext>
            </a:extLst>
          </p:cNvPr>
          <p:cNvSpPr/>
          <p:nvPr/>
        </p:nvSpPr>
        <p:spPr>
          <a:xfrm>
            <a:off x="5504873" y="2993736"/>
            <a:ext cx="2068946" cy="154016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Linear models with multiple explanatory variables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B62C00B-F86D-683E-7243-F2D373F6370A}"/>
              </a:ext>
            </a:extLst>
          </p:cNvPr>
          <p:cNvSpPr/>
          <p:nvPr/>
        </p:nvSpPr>
        <p:spPr>
          <a:xfrm>
            <a:off x="5504873" y="4741718"/>
            <a:ext cx="2068946" cy="154016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dirty="0" err="1"/>
              <a:t>Generalised</a:t>
            </a:r>
            <a:r>
              <a:rPr lang="en-US" dirty="0"/>
              <a:t> linear models (GLM) for count and 0/1 data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C5E3F40-B4A2-B3A3-11E0-6151E9A8261E}"/>
              </a:ext>
            </a:extLst>
          </p:cNvPr>
          <p:cNvSpPr/>
          <p:nvPr/>
        </p:nvSpPr>
        <p:spPr>
          <a:xfrm>
            <a:off x="3195782" y="240146"/>
            <a:ext cx="4378037" cy="674254"/>
          </a:xfrm>
          <a:prstGeom prst="roundRect">
            <a:avLst/>
          </a:prstGeom>
          <a:solidFill>
            <a:schemeClr val="accent6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Ten-minute videos &amp; interactive websites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9898152-A570-8B4B-C465-76FE9CEEF2B5}"/>
              </a:ext>
            </a:extLst>
          </p:cNvPr>
          <p:cNvSpPr/>
          <p:nvPr/>
        </p:nvSpPr>
        <p:spPr>
          <a:xfrm>
            <a:off x="7864764" y="1214582"/>
            <a:ext cx="1644071" cy="50673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5 computer practicals closely align to TMV and interactive websites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 practicals strengthen learning from self-taught materials, consolidate skills, new examples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6524A16-3933-7DE5-2ADA-7D2EB729F763}"/>
              </a:ext>
            </a:extLst>
          </p:cNvPr>
          <p:cNvSpPr/>
          <p:nvPr/>
        </p:nvSpPr>
        <p:spPr>
          <a:xfrm>
            <a:off x="7938653" y="240146"/>
            <a:ext cx="1570182" cy="674254"/>
          </a:xfrm>
          <a:prstGeom prst="roundRect">
            <a:avLst/>
          </a:prstGeom>
          <a:solidFill>
            <a:schemeClr val="accent2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Computer practicals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AD0615A-C2EF-880F-E9D4-C10205978F8D}"/>
              </a:ext>
            </a:extLst>
          </p:cNvPr>
          <p:cNvSpPr/>
          <p:nvPr/>
        </p:nvSpPr>
        <p:spPr>
          <a:xfrm>
            <a:off x="10007599" y="240146"/>
            <a:ext cx="1570182" cy="674254"/>
          </a:xfrm>
          <a:prstGeom prst="roundRect">
            <a:avLst/>
          </a:prstGeom>
          <a:solidFill>
            <a:schemeClr val="accent4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Assessment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5F36C10-5D07-F231-F572-397A570A877C}"/>
              </a:ext>
            </a:extLst>
          </p:cNvPr>
          <p:cNvSpPr/>
          <p:nvPr/>
        </p:nvSpPr>
        <p:spPr>
          <a:xfrm>
            <a:off x="10007599" y="1342736"/>
            <a:ext cx="1570182" cy="218555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Formative online assessment DOES NOT count towards mark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C781E74-1CED-5175-C108-D3DA7E568A8E}"/>
              </a:ext>
            </a:extLst>
          </p:cNvPr>
          <p:cNvSpPr/>
          <p:nvPr/>
        </p:nvSpPr>
        <p:spPr>
          <a:xfrm>
            <a:off x="10007599" y="3840018"/>
            <a:ext cx="1570182" cy="242108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Summative online assessment</a:t>
            </a:r>
          </a:p>
          <a:p>
            <a:pPr algn="ctr"/>
            <a:r>
              <a:rPr lang="en-US" dirty="0"/>
              <a:t>50% of NES2504 mark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182E9AA-627C-90E8-422A-D90113ABA85E}"/>
              </a:ext>
            </a:extLst>
          </p:cNvPr>
          <p:cNvSpPr/>
          <p:nvPr/>
        </p:nvSpPr>
        <p:spPr>
          <a:xfrm>
            <a:off x="1039090" y="1281834"/>
            <a:ext cx="1570182" cy="674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Basic plots &amp; summaries</a:t>
            </a:r>
          </a:p>
        </p:txBody>
      </p:sp>
    </p:spTree>
    <p:extLst>
      <p:ext uri="{BB962C8B-B14F-4D97-AF65-F5344CB8AC3E}">
        <p14:creationId xmlns:p14="http://schemas.microsoft.com/office/powerpoint/2010/main" val="805310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Sanderson</dc:creator>
  <cp:lastModifiedBy>Roy Sanderson</cp:lastModifiedBy>
  <cp:revision>1</cp:revision>
  <dcterms:created xsi:type="dcterms:W3CDTF">2026-08-25T16:12:05Z</dcterms:created>
  <dcterms:modified xsi:type="dcterms:W3CDTF">2026-08-25T16:12:06Z</dcterms:modified>
</cp:coreProperties>
</file>